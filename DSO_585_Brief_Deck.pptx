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3"/>
  </p:normalViewPr>
  <p:slideViewPr>
    <p:cSldViewPr snapToGrid="0" snapToObjects="1">
      <p:cViewPr varScale="1">
        <p:scale>
          <a:sx n="137" d="100"/>
          <a:sy n="137" d="100"/>
        </p:scale>
        <p:origin x="8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914400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7660" y="7086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Watch What Works: Audience-Driven Content Traits for Independent Creators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660" y="229743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A Feasibility Study on Using Audience Preference Data to Recommend
High-Engagement Video Traits to Independent YouTube Creators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041" y="3526536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DED1"/>
                </a:solidFill>
                <a:latin typeface="Arial"/>
              </a:rPr>
              <a:t>DSO 585 — Data-Driven Consulting  |  </a:t>
            </a:r>
            <a:endParaRPr lang="en-US" sz="1200" b="0" i="0">
              <a:solidFill>
                <a:srgbClr val="E3DED1"/>
              </a:solidFill>
              <a:latin typeface="Arial"/>
            </a:endParaRPr>
          </a:p>
          <a:p>
            <a:pPr algn="l"/>
            <a:r>
              <a:rPr sz="1200" b="0" i="0">
                <a:solidFill>
                  <a:srgbClr val="E3DED1"/>
                </a:solidFill>
                <a:latin typeface="Arial"/>
              </a:rPr>
              <a:t>Team </a:t>
            </a:r>
            <a:r>
              <a:rPr lang="en-US" sz="1200" b="0" i="0">
                <a:solidFill>
                  <a:srgbClr val="E3DED1"/>
                </a:solidFill>
                <a:latin typeface="Arial"/>
              </a:rPr>
              <a:t>7</a:t>
            </a:r>
            <a:endParaRPr sz="1200" b="0" i="0">
              <a:solidFill>
                <a:srgbClr val="E3DED1"/>
              </a:solidFill>
              <a:latin typeface="Arial"/>
            </a:endParaRPr>
          </a:p>
        </p:txBody>
      </p:sp>
      <p:pic>
        <p:nvPicPr>
          <p:cNvPr id="7" name="Picture 6" descr="us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319" y="274320"/>
            <a:ext cx="390640" cy="502920"/>
          </a:xfrm>
          <a:prstGeom prst="rect">
            <a:avLst/>
          </a:prstGeom>
        </p:spPr>
      </p:pic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640580"/>
            <a:ext cx="1320243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47594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CC00"/>
                </a:solidFill>
                <a:latin typeface="Arial"/>
              </a:rPr>
              <a:t>University of Southern California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>
                <a:solidFill>
                  <a:srgbClr val="990000"/>
                </a:solidFill>
                <a:latin typeface="Arial"/>
              </a:rPr>
              <a:t>Context</a:t>
            </a:r>
            <a:endParaRPr sz="2600" b="1" i="0">
              <a:solidFill>
                <a:srgbClr val="990000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564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Independent creators have no systematic way to know which </a:t>
            </a:r>
            <a:r>
              <a:rPr lang="en-US" sz="1500">
                <a:solidFill>
                  <a:srgbClr val="323232"/>
                </a:solidFill>
                <a:latin typeface="Arial"/>
              </a:rPr>
              <a:t>what </a:t>
            </a:r>
            <a:r>
              <a:rPr sz="1500">
                <a:solidFill>
                  <a:srgbClr val="323232"/>
                </a:solidFill>
                <a:latin typeface="Arial"/>
              </a:rPr>
              <a:t>their audience and YouTube's recommendation system actually reward </a:t>
            </a:r>
            <a:r>
              <a:rPr lang="en-US" sz="1500">
                <a:solidFill>
                  <a:srgbClr val="323232"/>
                </a:solidFill>
                <a:latin typeface="Arial"/>
                <a:sym typeface="Wingdings" pitchFamily="2" charset="2"/>
              </a:rPr>
              <a:t> </a:t>
            </a:r>
            <a:r>
              <a:rPr sz="1500">
                <a:solidFill>
                  <a:srgbClr val="323232"/>
                </a:solidFill>
                <a:latin typeface="Arial"/>
              </a:rPr>
              <a:t>most decisions rely on </a:t>
            </a:r>
            <a:r>
              <a:rPr lang="en-US" sz="1500">
                <a:solidFill>
                  <a:srgbClr val="323232"/>
                </a:solidFill>
                <a:latin typeface="Arial"/>
              </a:rPr>
              <a:t>creative </a:t>
            </a:r>
            <a:r>
              <a:rPr sz="1500">
                <a:solidFill>
                  <a:srgbClr val="323232"/>
                </a:solidFill>
                <a:latin typeface="Arial"/>
              </a:rPr>
              <a:t>intuition and trend-chasing.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Guessing wrong wastes production effort on videos with low expected engagement, and slows channel growth.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Large media companies already have in-house data teams doing this; independent creators do not.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323232"/>
                </a:solidFill>
                <a:latin typeface="Arial"/>
              </a:rPr>
              <a:t>•  Opportunity: give independent creators an analytical edge — a systematic way to translate audience preference into a concrete plan for their next video.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The Precise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0000"/>
                </a:solidFill>
                <a:latin typeface="Arial"/>
              </a:rPr>
              <a:t>Main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23232"/>
                </a:solidFill>
                <a:latin typeface="Arial"/>
              </a:rPr>
              <a:t>How can independent creators leverage audience preference data to make videos that increase viewership and engagement?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8138160" cy="149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500">
                <a:solidFill>
                  <a:srgbClr val="323232"/>
                </a:solidFill>
                <a:latin typeface="Arial"/>
              </a:rPr>
              <a:t>Quantify how much each content trait (topic, format, hashtags, creator background, theme, industry) drives engagement</a:t>
            </a:r>
            <a:endParaRPr lang="en-US" sz="1500">
              <a:solidFill>
                <a:srgbClr val="323232"/>
              </a:solidFill>
              <a:latin typeface="Arial"/>
            </a:endParaRP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323232"/>
                </a:solidFill>
                <a:latin typeface="Arial"/>
              </a:rPr>
              <a:t>S</a:t>
            </a:r>
            <a:r>
              <a:rPr sz="1500">
                <a:solidFill>
                  <a:srgbClr val="323232"/>
                </a:solidFill>
                <a:latin typeface="Arial"/>
              </a:rPr>
              <a:t>eparating correlation from causal effect where possible.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500">
                <a:solidFill>
                  <a:srgbClr val="323232"/>
                </a:solidFill>
                <a:latin typeface="Arial"/>
              </a:rPr>
              <a:t>Recommend the trait combination a creator should incorporate in their next video to maximize expected engagement, conditional on their audience's preferences.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11" name="Picture 10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How do we define engagement and virality, precisely?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What are the drivers of the important KPIs (views, likes, comments)?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What is merely correlation between a trait and engagement, and what is causal?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How do we move from correlation to a causal estimate?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How do content traits and audience demographics/preferences interact?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How do we intervene on a particular upcoming video — turn model output into action?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23232"/>
                </a:solidFill>
                <a:latin typeface="Arial"/>
              </a:rPr>
              <a:t>•  Would an LLM directly recommending traits perform better or worse than our formal pipeline?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Proposed Analytical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6636" y="1737360"/>
            <a:ext cx="1417320" cy="1051560"/>
          </a:xfrm>
          <a:prstGeom prst="roundRect">
            <a:avLst/>
          </a:prstGeom>
          <a:solidFill>
            <a:srgbClr val="990000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CC00"/>
                </a:solidFill>
                <a:latin typeface="Arial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LLM Trait
Tagging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33956" y="2180844"/>
            <a:ext cx="256032" cy="164592"/>
          </a:xfrm>
          <a:prstGeom prst="rightArrow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89988" y="1737360"/>
            <a:ext cx="1417320" cy="1051560"/>
          </a:xfrm>
          <a:prstGeom prst="roundRect">
            <a:avLst/>
          </a:prstGeom>
          <a:solidFill>
            <a:srgbClr val="991B1E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CC00"/>
                </a:solidFill>
                <a:latin typeface="Arial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Engagement
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07308" y="2180844"/>
            <a:ext cx="256032" cy="164592"/>
          </a:xfrm>
          <a:prstGeom prst="rightArrow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63340" y="1737360"/>
            <a:ext cx="1417320" cy="1051560"/>
          </a:xfrm>
          <a:prstGeom prst="roundRect">
            <a:avLst/>
          </a:prstGeom>
          <a:solidFill>
            <a:srgbClr val="990000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CC00"/>
                </a:solidFill>
                <a:latin typeface="Arial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Audience
Preference 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80660" y="2180844"/>
            <a:ext cx="256032" cy="164592"/>
          </a:xfrm>
          <a:prstGeom prst="rightArrow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36692" y="1737360"/>
            <a:ext cx="1417320" cy="1051560"/>
          </a:xfrm>
          <a:prstGeom prst="roundRect">
            <a:avLst/>
          </a:prstGeom>
          <a:solidFill>
            <a:srgbClr val="991B1E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CC00"/>
                </a:solidFill>
                <a:latin typeface="Arial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Optimization
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54012" y="2180844"/>
            <a:ext cx="256032" cy="164592"/>
          </a:xfrm>
          <a:prstGeom prst="rightArrow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10044" y="1737360"/>
            <a:ext cx="1417320" cy="1051560"/>
          </a:xfrm>
          <a:prstGeom prst="roundRect">
            <a:avLst/>
          </a:prstGeom>
          <a:solidFill>
            <a:srgbClr val="990000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CC00"/>
                </a:solidFill>
                <a:latin typeface="Arial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LLM Benchmark
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323232"/>
                </a:solidFill>
                <a:latin typeface="Arial"/>
              </a:rPr>
              <a:t>•  Trait-tagged videos and engagement metrics feed a model that estimates each trait's effect, conditioned on the audience actually watching.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323232"/>
                </a:solidFill>
                <a:latin typeface="Arial"/>
              </a:rPr>
              <a:t>•  Fitted parameters feed a linear/integer optimization model to recommend the best trait combination for a specific creator, then benchmarked against a direct LLM recommendation.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18" name="Picture 17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Data &amp;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90000"/>
                </a:solidFill>
                <a:latin typeface="Arial"/>
              </a:rPr>
              <a:t>•  Video metadata &amp; engagement: </a:t>
            </a:r>
            <a:r>
              <a:rPr sz="1400">
                <a:solidFill>
                  <a:srgbClr val="323232"/>
                </a:solidFill>
                <a:latin typeface="Arial"/>
              </a:rPr>
              <a:t>YouTube Data API v3 (videos.list, channels.list) — public views/likes/comments, tags, duration, publish date for any creator.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90000"/>
                </a:solidFill>
                <a:latin typeface="Arial"/>
              </a:rPr>
              <a:t>•  Trait labels: </a:t>
            </a:r>
            <a:r>
              <a:rPr sz="1400">
                <a:solidFill>
                  <a:srgbClr val="323232"/>
                </a:solidFill>
                <a:latin typeface="Arial"/>
              </a:rPr>
              <a:t>LLM-tagged from title/description/transcript against a fixed trait taxonomy (content, format, hashtags, creator background, theme, industry).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90000"/>
                </a:solidFill>
                <a:latin typeface="Arial"/>
              </a:rPr>
              <a:t>•  Constraint to flag now: </a:t>
            </a:r>
            <a:r>
              <a:rPr sz="1400">
                <a:solidFill>
                  <a:srgbClr val="323232"/>
                </a:solidFill>
                <a:latin typeface="Arial"/>
              </a:rPr>
              <a:t>true audience demographics (YouTube Analytics API) are only accessible for channels we own — not arbitrary creators.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90000"/>
                </a:solidFill>
                <a:latin typeface="Arial"/>
              </a:rPr>
              <a:t>•  Mitigation: </a:t>
            </a:r>
            <a:r>
              <a:rPr sz="1400">
                <a:solidFill>
                  <a:srgbClr val="323232"/>
                </a:solidFill>
                <a:latin typeface="Arial"/>
              </a:rPr>
              <a:t>own-channel ground truth, third-party estimated-demographics tools, or a same-channel audience-preference model as fallback scope.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90000"/>
                </a:solidFill>
                <a:latin typeface="Arial"/>
              </a:rPr>
              <a:t>•  Backup data: </a:t>
            </a:r>
            <a:r>
              <a:rPr sz="1400">
                <a:solidFill>
                  <a:srgbClr val="323232"/>
                </a:solidFill>
                <a:latin typeface="Arial"/>
              </a:rPr>
              <a:t>public Kaggle YouTube-statistics datasets to validate the pipeline end-to-end.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Methodology Spotlight: Audience Preference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Arial"/>
              </a:rPr>
              <a:t>The same trait can drive very different engagement depending on who is watching.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23232"/>
                </a:solidFill>
                <a:latin typeface="Arial"/>
              </a:rPr>
              <a:t>•  Segment the audience into a small number of groups based on demographic composition and watch behavior.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23232"/>
                </a:solidFill>
                <a:latin typeface="Arial"/>
              </a:rPr>
              <a:t>•  Model trait x audience-segment interaction terms (factorization-machine style) — not one universal trait effect pooled across all creators.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23232"/>
                </a:solidFill>
                <a:latin typeface="Arial"/>
              </a:rPr>
              <a:t>•  Feed segment-specific parameters into the optimization step, so recommendations are conditioned on a creator's actual audience, not a population average.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23232"/>
                </a:solidFill>
                <a:latin typeface="Arial"/>
              </a:rPr>
              <a:t>•  Starting point: interpretable interaction-term regression, not a full two-tower neural network — more explainable and realistic given expected data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10" name="Picture 9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From Correlation to Causal, and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Engagement model: </a:t>
            </a:r>
            <a:r>
              <a:rPr sz="1500">
                <a:solidFill>
                  <a:srgbClr val="323232"/>
                </a:solidFill>
                <a:latin typeface="Arial"/>
              </a:rPr>
              <a:t>associational — estimates which traits are correlated with engagement.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Causal identification: </a:t>
            </a:r>
            <a:r>
              <a:rPr sz="1500">
                <a:solidFill>
                  <a:srgbClr val="323232"/>
                </a:solidFill>
                <a:latin typeface="Arial"/>
              </a:rPr>
              <a:t>within-channel changes over time, matching on channel/video characteristics, or other quasi-experimental designs to test whether a trait plausibly causes engagement.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Verification: </a:t>
            </a:r>
            <a:r>
              <a:rPr sz="1500">
                <a:solidFill>
                  <a:srgbClr val="323232"/>
                </a:solidFill>
                <a:latin typeface="Arial"/>
              </a:rPr>
              <a:t>chronological train/test split (avoid lookahead bias); sanity-check trait effects against qualitative creator/domain knowledge.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We will explicitly label which findings are correlational vs. causal — no overclaiming.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Expected 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A quantified estimate of which content traits drive engagement, and how that varies by audience segment.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A working prototype: given a creator's channel history, recommends a trait combination for their next video to maximize expected engagement.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A documented comparison of the ML + optimization pipeline vs. a direct LLM recommendation.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23232"/>
                </a:solidFill>
                <a:latin typeface="Arial"/>
              </a:rPr>
              <a:t>•  A reusable trait-tagging and engagement-modeling pipeline, extensible to more creators or platforms.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Timeline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Week(s)</a:t>
                      </a:r>
                    </a:p>
                  </a:txBody>
                  <a:tcPr>
                    <a:solidFill>
                      <a:srgbClr val="991B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>
                    <a:solidFill>
                      <a:srgbClr val="991B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>
                    <a:solidFill>
                      <a:srgbClr val="991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1-3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Frame &amp;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Team roles, scoping doc, executive buy-in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4-5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Data ingestion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ETL pipeline, trait taxonomy v1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6-7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Trait tagging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LLM-tagged dataset, tagging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8-9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Engagement model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Baseline model, feature-importance report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Audience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Segment-interaction model, findings memo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11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Causal analysis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Correlation-to-causal writeup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Optimization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Trait-recommendation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13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LLM benchmark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Pipeline vs. LLM comparison report</a:t>
                      </a:r>
                    </a:p>
                  </a:txBody>
                  <a:tcPr>
                    <a:solidFill>
                      <a:srgbClr val="E3D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90000"/>
                          </a:solidFill>
                          <a:latin typeface="Arial"/>
                        </a:rPr>
                        <a:t>Wk 15-16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Final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23232"/>
                          </a:solidFill>
                          <a:latin typeface="Arial"/>
                        </a:rPr>
                        <a:t>Final presentation, report,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AI's Role — and Where the Team Retains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AI assists with: </a:t>
            </a:r>
            <a:r>
              <a:rPr sz="1500">
                <a:solidFill>
                  <a:srgbClr val="323232"/>
                </a:solidFill>
                <a:latin typeface="Arial"/>
              </a:rPr>
              <a:t>trait tagging at scale (LLM), code implementation/debugging (AI-assisted coding), and the LLM-as-recommender benchmark arm itself.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The team owns: </a:t>
            </a:r>
            <a:r>
              <a:rPr sz="1500">
                <a:solidFill>
                  <a:srgbClr val="323232"/>
                </a:solidFill>
                <a:latin typeface="Arial"/>
              </a:rPr>
              <a:t>the trait taxonomy, engagement/audience model specification, the causal-identification strategy, and interpretation of results.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990000"/>
                </a:solidFill>
                <a:latin typeface="Arial"/>
              </a:rPr>
              <a:t>•  Verification: </a:t>
            </a:r>
            <a:r>
              <a:rPr sz="1500">
                <a:solidFill>
                  <a:srgbClr val="323232"/>
                </a:solidFill>
                <a:latin typeface="Arial"/>
              </a:rPr>
              <a:t>spot-check LLM trait tags for consistency; backtest model recommendations on held-out historical videos; document what changed after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90000"/>
                </a:solidFill>
                <a:latin typeface="Arial"/>
              </a:rPr>
              <a:t>Key Risks &amp; Contingency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77240"/>
            <a:ext cx="100584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990000"/>
                </a:solidFill>
                <a:latin typeface="Arial"/>
              </a:rPr>
              <a:t>•  Audience demographic access: </a:t>
            </a:r>
            <a:r>
              <a:rPr sz="1450">
                <a:solidFill>
                  <a:srgbClr val="323232"/>
                </a:solidFill>
                <a:latin typeface="Arial"/>
              </a:rPr>
              <a:t>true per-channel demographics require OAuth ownership -&gt; fallback to same-channel model or engagement-only analysis if unavailable.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990000"/>
                </a:solidFill>
                <a:latin typeface="Arial"/>
              </a:rPr>
              <a:t>•  LLM tagging consistency: </a:t>
            </a:r>
            <a:r>
              <a:rPr sz="1450">
                <a:solidFill>
                  <a:srgbClr val="323232"/>
                </a:solidFill>
                <a:latin typeface="Arial"/>
              </a:rPr>
              <a:t>mitigate with a tightened taxonomy, few-shot examples, and human spot-checks for agreement.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990000"/>
                </a:solidFill>
                <a:latin typeface="Arial"/>
              </a:rPr>
              <a:t>•  Causal identification difficulty: </a:t>
            </a:r>
            <a:r>
              <a:rPr sz="1450">
                <a:solidFill>
                  <a:srgbClr val="323232"/>
                </a:solidFill>
                <a:latin typeface="Arial"/>
              </a:rPr>
              <a:t>fall back to a clearly-labeled correlational analysis rather than overclaiming causality.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990000"/>
                </a:solidFill>
                <a:latin typeface="Arial"/>
              </a:rPr>
              <a:t>•  API quota/rate limits: </a:t>
            </a:r>
            <a:r>
              <a:rPr sz="1450">
                <a:solidFill>
                  <a:srgbClr val="323232"/>
                </a:solidFill>
                <a:latin typeface="Arial"/>
              </a:rPr>
              <a:t>fall back to public Kaggle datasets to keep the pipeline moving.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732020"/>
            <a:ext cx="914400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32604"/>
            <a:ext cx="1009598" cy="237744"/>
          </a:xfrm>
          <a:prstGeom prst="rect">
            <a:avLst/>
          </a:prstGeom>
        </p:spPr>
      </p:pic>
      <p:pic>
        <p:nvPicPr>
          <p:cNvPr id="9" name="Picture 8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23" y="4814316"/>
            <a:ext cx="213076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144000" cy="3810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What We're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•  Approval to proceed into data collection and modeling (Phase II).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•  Guidance on demographic-data access strategy, given the API ownership constraint.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•  Any creator/channel contacts the team could use for first-party audience data.</a:t>
            </a:r>
          </a:p>
        </p:txBody>
      </p:sp>
      <p:pic>
        <p:nvPicPr>
          <p:cNvPr id="6" name="Picture 5" descr="usc_marshall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686300"/>
            <a:ext cx="1164921" cy="274320"/>
          </a:xfrm>
          <a:prstGeom prst="rect">
            <a:avLst/>
          </a:prstGeom>
        </p:spPr>
      </p:pic>
      <p:pic>
        <p:nvPicPr>
          <p:cNvPr id="7" name="Picture 6" descr="us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578" y="4640580"/>
            <a:ext cx="284102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1096</Words>
  <Application>Microsoft Macintosh PowerPoint</Application>
  <PresentationFormat>On-screen Show (16:9)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Yang, Tianhao</cp:lastModifiedBy>
  <cp:revision>2</cp:revision>
  <dcterms:created xsi:type="dcterms:W3CDTF">2013-01-27T09:14:16Z</dcterms:created>
  <dcterms:modified xsi:type="dcterms:W3CDTF">2026-09-11T00:06:31Z</dcterms:modified>
  <cp:category/>
</cp:coreProperties>
</file>